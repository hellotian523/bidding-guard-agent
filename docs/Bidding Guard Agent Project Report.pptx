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embeddedFontLst>
    <p:embeddedFont>
      <p:font typeface="Calibri" panose="020F0502020204030204"/>
      <p:regular r:id="rId19"/>
      <p:bold r:id="rId20"/>
      <p:italic r:id="rId21"/>
      <p:boldItalic r:id="rId22"/>
    </p:embeddedFont>
    <p:embeddedFont>
      <p:font typeface="Urbanist Medium" panose="020B0A04040200000203"/>
      <p:regular r:id="rId23"/>
      <p:bold r:id="rId24"/>
      <p:italic r:id="rId25"/>
      <p:boldItalic r:id="rId26"/>
    </p:embeddedFont>
    <p:embeddedFont>
      <p:font typeface="Urbanist" panose="020B0A04040200000203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3FA2580-1415-48AC-B30D-A063B3C8BF81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font" Target="fonts/font12.fntdata"/><Relationship Id="rId3" Type="http://schemas.openxmlformats.org/officeDocument/2006/relationships/slide" Target="slides/slide1.xml"/><Relationship Id="rId29" Type="http://schemas.openxmlformats.org/officeDocument/2006/relationships/font" Target="fonts/font11.fntdata"/><Relationship Id="rId28" Type="http://schemas.openxmlformats.org/officeDocument/2006/relationships/font" Target="fonts/font10.fntdata"/><Relationship Id="rId27" Type="http://schemas.openxmlformats.org/officeDocument/2006/relationships/font" Target="fonts/font9.fntdata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0" name="Google Shape;100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2" name="Google Shape;132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4" name="Google Shape;144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2" name="Google Shape;152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4" name="Google Shape;184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7" name="Google Shape;197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6" name="Google Shape;216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8" name="Google Shape;238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71525" y="1817340"/>
            <a:ext cx="10648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2D3EE"/>
                </a:solidFill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rPr>
              <a:t>STARLANDAI 开发者培养计划</a:t>
            </a:r>
            <a:endParaRPr lang="en-US" sz="1500" b="0" i="0" u="none" strike="noStrike" cap="none">
              <a:solidFill>
                <a:srgbClr val="22D3EE"/>
              </a:solidFill>
              <a:latin typeface="Urbanist Medium" panose="020B0A04040200000203"/>
              <a:ea typeface="Urbanist Medium" panose="020B0A04040200000203"/>
              <a:cs typeface="Urbanist Medium" panose="020B0A04040200000203"/>
              <a:sym typeface="Urbanist Medium" panose="020B0A04040200000203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05301" y="2312640"/>
            <a:ext cx="1118139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Bidding </a:t>
            </a:r>
            <a:r>
              <a:rPr lang="en-US" sz="6000" b="1" i="0" u="none" strike="noStrike" cap="none">
                <a:solidFill>
                  <a:srgbClr val="22D3E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Guard</a:t>
            </a:r>
            <a:r>
              <a:rPr lang="en-US" sz="60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Agent</a:t>
            </a:r>
            <a:endParaRPr lang="en-US" sz="60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05301" y="3227040"/>
            <a:ext cx="1118139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中小企业招投标排雷与标书生成智能体</a:t>
            </a:r>
            <a:endParaRPr lang="en-US" sz="240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4046190"/>
            <a:ext cx="7620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个人项目首次汇报：需求判断、技术选型与 MVP 规划</a:t>
            </a:r>
            <a:endParaRPr lang="en-US" sz="180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771525" y="4983360"/>
            <a:ext cx="10649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汇报人</a:t>
            </a:r>
            <a:r>
              <a:rPr lang="en-US" sz="1350">
                <a:solidFill>
                  <a:srgbClr val="64748B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：田宁</a:t>
            </a:r>
            <a:endParaRPr lang="en-US" sz="1350">
              <a:solidFill>
                <a:srgbClr val="64748B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05301" y="2405062"/>
            <a:ext cx="11181397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核心原则与</a:t>
            </a:r>
            <a:r>
              <a:rPr lang="en-US" sz="4500" b="1" i="0" u="none" strike="noStrike" cap="none">
                <a:solidFill>
                  <a:srgbClr val="22D3E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培养目标</a:t>
            </a:r>
            <a:endParaRPr lang="en-US" sz="4500" b="1" i="0" u="none" strike="noStrike" cap="none">
              <a:solidFill>
                <a:srgbClr val="22D3E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5619750" y="3519487"/>
            <a:ext cx="9525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762250" y="3843337"/>
            <a:ext cx="6667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围绕真实问题完成需求判断、技术选型、开发实现与部署上线，成为全栈 AI Agent 工程师。</a:t>
            </a:r>
            <a:endParaRPr lang="en-US" sz="15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71525" y="2791717"/>
            <a:ext cx="5038725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2791717"/>
            <a:ext cx="5038725" cy="25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1066800" y="3086992"/>
            <a:ext cx="4670583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F4444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现实痛点</a:t>
            </a:r>
            <a:endParaRPr lang="en-US" sz="2100" b="1" i="0" u="none" strike="noStrike" cap="none">
              <a:solidFill>
                <a:srgbClr val="EF4444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1066800" y="3896617"/>
            <a:ext cx="44481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招标文件动辄数百页，废标条款隐藏深。中小企业因漏看资质要求导致高概率“废标”，且人工制作标书效率低下。</a:t>
            </a:r>
            <a:endParaRPr lang="en-US" sz="15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6677025" y="3086992"/>
            <a:ext cx="4670583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解决方案</a:t>
            </a:r>
            <a:endParaRPr lang="en-US" sz="2100" b="1" i="0" u="none" strike="noStrike" cap="none">
              <a:solidFill>
                <a:srgbClr val="22D3E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6677025" y="3896617"/>
            <a:ext cx="44481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构建具备“严苛审计员”人格的 Agent。利用超长文本处理能力精准提取资质要求，并自动化生成标书响应模块。</a:t>
            </a:r>
            <a:endParaRPr lang="en-US" sz="15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09" name="Google Shape;109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66800" y="308699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677025" y="308699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71525" y="485775"/>
            <a:ext cx="11181397" cy="849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Overview</a:t>
            </a:r>
            <a:r>
              <a:rPr lang="en-US" sz="39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项目概述与痛点分析</a:t>
            </a:r>
            <a:endParaRPr lang="en-US" sz="39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71525" y="2529780"/>
            <a:ext cx="342260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84625" y="2529780"/>
            <a:ext cx="342260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997725" y="2529780"/>
            <a:ext cx="3422749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66800" y="2825055"/>
            <a:ext cx="28320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1066800" y="3444180"/>
            <a:ext cx="297365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商务/投标专员</a:t>
            </a:r>
            <a:endParaRPr lang="en-US" sz="2100" b="1" i="0" u="none" strike="noStrike" cap="none">
              <a:solidFill>
                <a:srgbClr val="22D3E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1066800" y="4158555"/>
            <a:ext cx="28320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在 Go/No-Go 决策阶段快速完成数百页文档的合规初筛，极速提取“一票否决”项。</a:t>
            </a:r>
            <a:endParaRPr lang="en-US" sz="15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23" name="Google Shape;123;p16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679900" y="2825055"/>
            <a:ext cx="28320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4679900" y="3444180"/>
            <a:ext cx="297365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中小企业主</a:t>
            </a:r>
            <a:endParaRPr lang="en-US" sz="2100" b="1" i="0" u="none" strike="noStrike" cap="none">
              <a:solidFill>
                <a:srgbClr val="22D3E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4679900" y="4158555"/>
            <a:ext cx="28320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在缺乏专业法务团队的情况下，通过 AI 确保投标流程的严谨性，止损并提效。</a:t>
            </a:r>
            <a:endParaRPr lang="en-US" sz="15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293000" y="2825055"/>
            <a:ext cx="28321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8293000" y="3444180"/>
            <a:ext cx="297380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核心竞争优势</a:t>
            </a:r>
            <a:endParaRPr lang="en-US" sz="2100" b="1" i="0" u="none" strike="noStrike" cap="none">
              <a:solidFill>
                <a:srgbClr val="22D3E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8293000" y="4158555"/>
            <a:ext cx="28321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相比普通聊天机器人，具备行业母版理解力；相比人工，具备 24/7 的无疲劳审计精准度。</a:t>
            </a:r>
            <a:endParaRPr lang="en-US" sz="15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771525" y="485775"/>
            <a:ext cx="11181397" cy="849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Scenarios</a:t>
            </a:r>
            <a:r>
              <a:rPr lang="en-US" sz="39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场景化分析：解决谁的问题？</a:t>
            </a:r>
            <a:endParaRPr lang="en-US" sz="39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771525" y="3306067"/>
            <a:ext cx="50387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22D3E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0%</a:t>
            </a:r>
            <a:endParaRPr lang="en-US" sz="9000" b="1" i="0" u="none" strike="noStrike" cap="none">
              <a:solidFill>
                <a:srgbClr val="22D3E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771525" y="4449067"/>
            <a:ext cx="50387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rPr>
              <a:t>数据外泄风险</a:t>
            </a:r>
            <a:endParaRPr lang="en-US" sz="1800" b="0" i="0" u="none" strike="noStrike" cap="none">
              <a:solidFill>
                <a:srgbClr val="F8FAFC"/>
              </a:solidFill>
              <a:latin typeface="Urbanist Medium" panose="020B0A04040200000203"/>
              <a:ea typeface="Urbanist Medium" panose="020B0A04040200000203"/>
              <a:cs typeface="Urbanist Medium" panose="020B0A04040200000203"/>
              <a:sym typeface="Urbanist Medium" panose="020B0A04040200000203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6381750" y="2748855"/>
            <a:ext cx="529066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1. 环境隔离与数据隐私</a:t>
            </a:r>
            <a:endParaRPr lang="en-US" sz="1405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6381750" y="3196530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B 端用户绝不会将标书核心机密上传云端。本项目采用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本地容器化部署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，确保数据不出内网环境。</a:t>
            </a:r>
            <a:endParaRPr lang="en-US" sz="15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6381750" y="4091880"/>
            <a:ext cx="529066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2. 垂直领域的“工程深度”</a:t>
            </a:r>
            <a:endParaRPr lang="en-US" sz="1405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6381750" y="4539555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避开通用赛道，深挖招投标这一特定流程。不仅是调 API，而是构建包含母版解析、参数对比的复杂工作流。</a:t>
            </a:r>
            <a:endParaRPr lang="en-US" sz="15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771525" y="485775"/>
            <a:ext cx="11181397" cy="849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Differentiation</a:t>
            </a:r>
            <a:r>
              <a:rPr lang="en-US" sz="39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差异化与核心价值</a:t>
            </a:r>
            <a:endParaRPr lang="en-US" sz="39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505301" y="2462212"/>
            <a:ext cx="11181397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技术架构与</a:t>
            </a:r>
            <a:r>
              <a:rPr lang="en-US" sz="4500" b="1" i="0" u="none" strike="noStrike" cap="none">
                <a:solidFill>
                  <a:srgbClr val="22D3E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工程实现</a:t>
            </a:r>
            <a:endParaRPr lang="en-US" sz="4500" b="1" i="0" u="none" strike="noStrike" cap="none">
              <a:solidFill>
                <a:srgbClr val="22D3E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5619750" y="3576637"/>
            <a:ext cx="9525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771525" y="3900487"/>
            <a:ext cx="10648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基于“脑手分离”设计理念，实现可部署、可复用的产品原型。</a:t>
            </a:r>
            <a:endParaRPr lang="en-US" sz="15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2282130"/>
            <a:ext cx="5038725" cy="3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771525" y="2434530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2D3E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🧠 控制层 (The Brain)：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使用本地部署的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Qwen-2 / Llama-3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模型。采用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LangGraph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编排状态机，处理长文本审计逻辑。</a:t>
            </a:r>
            <a:endParaRPr lang="en-US" sz="15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771525" y="3587055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2D3E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🔧 执行层 (The Hands)：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使用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python-docx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操作物理文件。通过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FastAPI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封装后端接口，支持异步文件处理。</a:t>
            </a:r>
            <a:endParaRPr lang="en-US" sz="15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771525" y="4739580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2D3E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📂 知识记忆：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构建基于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ChromaDB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的本地企业资质库 RAG 检索，实现自动化“资质纠错”。</a:t>
            </a:r>
            <a:endParaRPr lang="en-US" sz="15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59" name="Google Shape;159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91275" y="2291655"/>
            <a:ext cx="23812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771525" y="485775"/>
            <a:ext cx="11181397" cy="849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Architecture</a:t>
            </a:r>
            <a:r>
              <a:rPr lang="en-US" sz="39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核心技术路线</a:t>
            </a:r>
            <a:endParaRPr lang="en-US" sz="39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71525" y="1743967"/>
            <a:ext cx="3422600" cy="460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84625" y="1743967"/>
            <a:ext cx="3422600" cy="460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997725" y="1743967"/>
            <a:ext cx="3422749" cy="460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66800" y="2039242"/>
            <a:ext cx="28320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679900" y="2039242"/>
            <a:ext cx="28320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293000" y="2039242"/>
            <a:ext cx="283219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1066800" y="4229992"/>
            <a:ext cx="297365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Docker 容器化</a:t>
            </a:r>
            <a:endParaRPr lang="en-US" sz="2100" b="1" i="0" u="none" strike="noStrike" cap="none">
              <a:solidFill>
                <a:srgbClr val="22D3E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1066800" y="4944367"/>
            <a:ext cx="28320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将解析引擎、数据库、LLM API 封装在独立镜像，实现一键部署与环境隔离。</a:t>
            </a:r>
            <a:endParaRPr lang="en-US" sz="15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79900" y="4229992"/>
            <a:ext cx="297365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本地算力优化</a:t>
            </a:r>
            <a:endParaRPr lang="en-US" sz="2100" b="1" i="0" u="none" strike="noStrike" cap="none">
              <a:solidFill>
                <a:srgbClr val="22D3E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79900" y="4944367"/>
            <a:ext cx="28320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针对个人游戏本 RTX 显卡优化，使用量化推理框架，保证处理百页文档的响应速度。</a:t>
            </a:r>
            <a:endParaRPr lang="en-US" sz="15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8293000" y="4229992"/>
            <a:ext cx="297380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网页端 UI</a:t>
            </a:r>
            <a:endParaRPr lang="en-US" sz="2100" b="1" i="0" u="none" strike="noStrike" cap="none">
              <a:solidFill>
                <a:srgbClr val="22D3E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8293000" y="4944367"/>
            <a:ext cx="28321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采用 Streamlit 快速实现产品形态，具备完整的使用链路：上传 -&gt; 审计 -&gt; 导出。</a:t>
            </a:r>
            <a:endParaRPr lang="en-US" sz="15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78" name="Google Shape;178;p20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076325" y="2048767"/>
            <a:ext cx="281300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4689425" y="2048767"/>
            <a:ext cx="281300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8302525" y="2048767"/>
            <a:ext cx="2813149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771525" y="485775"/>
            <a:ext cx="11181397" cy="849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Isolation</a:t>
            </a:r>
            <a:r>
              <a:rPr lang="en-US" sz="39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工程化部署与隔离</a:t>
            </a:r>
            <a:endParaRPr lang="en-US" sz="39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71525" y="2834580"/>
            <a:ext cx="10648950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1453157" y="3377505"/>
            <a:ext cx="957679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风险排雷报告：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准确解析 PDF，识别 100% 的显性废标条款，输出结构化自查 Excel。</a:t>
            </a:r>
            <a:endParaRPr lang="en-US" sz="15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1453157" y="3872805"/>
            <a:ext cx="957679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资质智能对齐：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自动对比招标文件与企业资质库，标注所有不合规资质雷区。</a:t>
            </a:r>
            <a:endParaRPr lang="en-US" sz="15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1453157" y="4368105"/>
            <a:ext cx="957679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交付物闭环：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实现 GitHub 仓库开源、README 文档齐全、本地 Docker 一键运行。</a:t>
            </a:r>
            <a:endParaRPr lang="en-US" sz="15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91" name="Google Shape;191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62050" y="3410842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62050" y="3906142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62050" y="4401442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771525" y="485775"/>
            <a:ext cx="11181397" cy="849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MVP Goal</a:t>
            </a:r>
            <a:r>
              <a:rPr lang="en-US" sz="39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第一版 MVP 交付目标</a:t>
            </a:r>
            <a:endParaRPr lang="en-US" sz="39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/>
          <p:nvPr/>
        </p:nvSpPr>
        <p:spPr>
          <a:xfrm>
            <a:off x="771525" y="4134742"/>
            <a:ext cx="10648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1847626" y="418713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712957" y="3467992"/>
            <a:ext cx="245983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2D3E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Week 1-2</a:t>
            </a:r>
            <a:endParaRPr lang="en-US" sz="1650" b="1" i="0" u="none" strike="noStrike" cap="none">
              <a:solidFill>
                <a:srgbClr val="22D3E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771525" y="4296667"/>
            <a:ext cx="2342703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环境搭建与数据解析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PDF 结构化提取初测</a:t>
            </a:r>
            <a:endParaRPr lang="en-US" sz="15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616276" y="418713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3481607" y="3467992"/>
            <a:ext cx="245983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2D3E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Week 3-6</a:t>
            </a:r>
            <a:endParaRPr lang="en-US" sz="1650" b="1" i="0" u="none" strike="noStrike" cap="none">
              <a:solidFill>
                <a:srgbClr val="22D3E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3540174" y="4296667"/>
            <a:ext cx="2342703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LangGraph 核心逻辑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废标风险排雷 Prompt 调优</a:t>
            </a:r>
            <a:endParaRPr lang="en-US" sz="15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7384925" y="418713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6250256" y="3467992"/>
            <a:ext cx="245983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2D3E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Week 7-9</a:t>
            </a:r>
            <a:endParaRPr lang="en-US" sz="1650" b="1" i="0" u="none" strike="noStrike" cap="none">
              <a:solidFill>
                <a:srgbClr val="22D3E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6308824" y="4296667"/>
            <a:ext cx="2342703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RAG 企业库集成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及 Docker 容器化封装</a:t>
            </a:r>
            <a:endParaRPr lang="en-US" sz="15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10153575" y="418713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9018906" y="3467992"/>
            <a:ext cx="245983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2D3E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Week 10-12</a:t>
            </a:r>
            <a:endParaRPr lang="en-US" sz="1650" b="1" i="0" u="none" strike="noStrike" cap="none">
              <a:solidFill>
                <a:srgbClr val="22D3E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9077473" y="4296667"/>
            <a:ext cx="2342703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UI 交互完善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录制 Demo 完成交付</a:t>
            </a:r>
            <a:endParaRPr lang="en-US" sz="15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771525" y="485775"/>
            <a:ext cx="11181397" cy="849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Timeline</a:t>
            </a:r>
            <a:r>
              <a:rPr lang="en-US" sz="39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第一版时间执行计划</a:t>
            </a:r>
            <a:endParaRPr lang="en-US" sz="39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9" name="Google Shape;219;p23"/>
          <p:cNvGraphicFramePr/>
          <p:nvPr/>
        </p:nvGraphicFramePr>
        <p:xfrm>
          <a:off x="771525" y="2777430"/>
          <a:ext cx="10648925" cy="3000000"/>
        </p:xfrm>
        <a:graphic>
          <a:graphicData uri="http://schemas.openxmlformats.org/drawingml/2006/table">
            <a:tbl>
              <a:tblPr firstRow="1" bandRow="1">
                <a:noFill/>
                <a:tableStyleId>{F3FA2580-1415-48AC-B30D-A063B3C8BF81}</a:tableStyleId>
              </a:tblPr>
              <a:tblGrid>
                <a:gridCol w="1594125"/>
                <a:gridCol w="6191650"/>
                <a:gridCol w="2863150"/>
              </a:tblGrid>
              <a:tr h="54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22D3EE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交付模块</a:t>
                      </a:r>
                      <a:endParaRPr lang="en-US" sz="1350" b="1" i="0" u="none" strike="noStrike" cap="none">
                        <a:solidFill>
                          <a:srgbClr val="22D3EE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22D3EE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具体内容</a:t>
                      </a:r>
                      <a:endParaRPr lang="en-US" sz="1350" b="1" i="0" u="none" strike="noStrike" cap="none">
                        <a:solidFill>
                          <a:srgbClr val="22D3EE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22D3EE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备注</a:t>
                      </a:r>
                      <a:endParaRPr lang="en-US" sz="1350" b="1" i="0" u="none" strike="noStrike" cap="none">
                        <a:solidFill>
                          <a:srgbClr val="22D3EE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</a:tr>
              <a:tr h="54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GitHub 仓库</a:t>
                      </a:r>
                      <a:endParaRPr lang="en-US" sz="1350" b="0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https://github.com/StarLandAI/Bidding-Guard</a:t>
                      </a:r>
                      <a:endParaRPr lang="en-US" sz="1350" b="0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包含 /WP, /docs, /log</a:t>
                      </a:r>
                      <a:endParaRPr lang="en-US" sz="1350" b="0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4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核心代码</a:t>
                      </a:r>
                      <a:endParaRPr lang="en-US" sz="1350" b="0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Agent 编排逻辑与 Word/Excel 渲染脚本</a:t>
                      </a:r>
                      <a:endParaRPr lang="en-US" sz="1350" b="0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Python 3.12+</a:t>
                      </a:r>
                      <a:endParaRPr lang="en-US" sz="1350" b="0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4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部署方式</a:t>
                      </a:r>
                      <a:endParaRPr lang="en-US" sz="1350" b="0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docker-compose up 一键拉起</a:t>
                      </a:r>
                      <a:endParaRPr lang="en-US" sz="1350" b="0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支持本地 GPU 加速</a:t>
                      </a:r>
                      <a:endParaRPr lang="en-US" sz="1350" b="0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4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演示成果</a:t>
                      </a:r>
                      <a:endParaRPr lang="en-US" sz="1350" b="0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演示视频 (Demo Video) 与 架构流程图</a:t>
                      </a:r>
                      <a:endParaRPr lang="en-US" sz="1350" b="0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托管至飞书云空间</a:t>
                      </a:r>
                      <a:endParaRPr lang="en-US" sz="1350" b="0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20" name="Google Shape;220;p23"/>
          <p:cNvSpPr/>
          <p:nvPr/>
        </p:nvSpPr>
        <p:spPr>
          <a:xfrm>
            <a:off x="771525" y="3301305"/>
            <a:ext cx="187821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2649735" y="3301305"/>
            <a:ext cx="5907583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8557319" y="3301305"/>
            <a:ext cx="28631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771525" y="3858517"/>
            <a:ext cx="187821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2649735" y="3858517"/>
            <a:ext cx="590758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8557319" y="3858517"/>
            <a:ext cx="286315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771525" y="4401442"/>
            <a:ext cx="187821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2649735" y="4401442"/>
            <a:ext cx="590758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8557319" y="4401442"/>
            <a:ext cx="286315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771525" y="4944367"/>
            <a:ext cx="187821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2649735" y="4944367"/>
            <a:ext cx="590758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8557319" y="4944367"/>
            <a:ext cx="286315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771525" y="5487292"/>
            <a:ext cx="187821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2649735" y="5487292"/>
            <a:ext cx="590758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8557319" y="5487292"/>
            <a:ext cx="286315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771525" y="485775"/>
            <a:ext cx="11181397" cy="849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Deliverables</a:t>
            </a:r>
            <a:r>
              <a:rPr lang="en-US" sz="39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项目交付标准与地址</a:t>
            </a:r>
            <a:endParaRPr lang="en-US" sz="39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 txBox="1"/>
          <p:nvPr/>
        </p:nvSpPr>
        <p:spPr>
          <a:xfrm>
            <a:off x="505301" y="1857375"/>
            <a:ext cx="1118139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Q &amp; </a:t>
            </a:r>
            <a:r>
              <a:rPr lang="en-US" sz="6000" b="1" i="0" u="none" strike="noStrike" cap="none">
                <a:solidFill>
                  <a:srgbClr val="22D3E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A</a:t>
            </a:r>
            <a:endParaRPr lang="en-US" sz="6000" b="1" i="0" u="none" strike="noStrike" cap="none">
              <a:solidFill>
                <a:srgbClr val="22D3E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42" name="Google Shape;242;p24"/>
          <p:cNvSpPr txBox="1"/>
          <p:nvPr/>
        </p:nvSpPr>
        <p:spPr>
          <a:xfrm>
            <a:off x="771525" y="3000375"/>
            <a:ext cx="10648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感谢聆听。期待各位开发者与规划师的宝贵意见。</a:t>
            </a:r>
            <a:endParaRPr lang="en-US" sz="180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1551</Words>
  <Application>WPS 演示</Application>
  <PresentationFormat/>
  <Paragraphs>140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Arial</vt:lpstr>
      <vt:lpstr>Calibri</vt:lpstr>
      <vt:lpstr>Urbanist Medium</vt:lpstr>
      <vt:lpstr>Urbanist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WPS_1669040698</cp:lastModifiedBy>
  <cp:revision>1</cp:revision>
  <dcterms:created xsi:type="dcterms:W3CDTF">2026-05-09T15:08:29Z</dcterms:created>
  <dcterms:modified xsi:type="dcterms:W3CDTF">2026-05-09T15:08:30Z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CE9624E1AB8D4A5593C7BC6CCD3C23AE_12</vt:lpwstr>
  </property>
  <property fmtid="{D5CDD505-2E9C-101B-9397-08002B2CF9AE}" pid="3" name="KSOProductBuildVer">
    <vt:lpwstr>2052-12.1.0.25225</vt:lpwstr>
  </property>
</Properties>
</file>